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7" r:id="rId3"/>
    <p:sldId id="258" r:id="rId4"/>
    <p:sldId id="259" r:id="rId5"/>
    <p:sldId id="264" r:id="rId6"/>
    <p:sldId id="262" r:id="rId7"/>
    <p:sldId id="265" r:id="rId8"/>
    <p:sldId id="266" r:id="rId9"/>
    <p:sldId id="261" r:id="rId10"/>
    <p:sldId id="257" r:id="rId11"/>
    <p:sldId id="263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5" d="100"/>
          <a:sy n="165" d="100"/>
        </p:scale>
        <p:origin x="5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5286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3200400" y="0"/>
            <a:ext cx="292608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-457200"/>
            <a:ext cx="4389120" cy="60579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029200" y="4023360"/>
            <a:ext cx="4114800" cy="112014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164592" y="0"/>
            <a:ext cx="64008" cy="5143500"/>
          </a:xfrm>
          <a:prstGeom prst="rect">
            <a:avLst/>
          </a:prstGeom>
          <a:solidFill>
            <a:srgbClr val="007B7F"/>
          </a:solidFill>
          <a:ln w="12700">
            <a:solidFill>
              <a:srgbClr val="007B7F"/>
            </a:solidFill>
            <a:prstDash val="solid"/>
          </a:ln>
        </p:spPr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256032"/>
            <a:ext cx="1645920" cy="1773936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65760" y="20848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007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BIOETHICS NETWORK</a:t>
            </a:r>
            <a:endParaRPr lang="en-US" sz="900" dirty="0"/>
          </a:p>
        </p:txBody>
      </p:sp>
      <p:sp>
        <p:nvSpPr>
          <p:cNvPr id="10" name="Text 4"/>
          <p:cNvSpPr/>
          <p:nvPr/>
        </p:nvSpPr>
        <p:spPr>
          <a:xfrm>
            <a:off x="365760" y="2395728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B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ORCID in the African</a:t>
            </a:r>
            <a:endParaRPr lang="en-US" sz="3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B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Ecosystem</a:t>
            </a:r>
            <a:endParaRPr lang="en-US" sz="3200" dirty="0"/>
          </a:p>
        </p:txBody>
      </p:sp>
      <p:sp>
        <p:nvSpPr>
          <p:cNvPr id="11" name="Shape 5"/>
          <p:cNvSpPr/>
          <p:nvPr/>
        </p:nvSpPr>
        <p:spPr>
          <a:xfrm>
            <a:off x="365760" y="3913632"/>
            <a:ext cx="2194560" cy="50292"/>
          </a:xfrm>
          <a:prstGeom prst="rect">
            <a:avLst/>
          </a:prstGeom>
          <a:solidFill>
            <a:srgbClr val="D4900A"/>
          </a:solidFill>
          <a:ln w="12700">
            <a:solidFill>
              <a:srgbClr val="D4900A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365760" y="404164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Visibility, Attribution, and Research Connectivity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endParaRPr lang="en-US" sz="1150" dirty="0"/>
          </a:p>
        </p:txBody>
      </p:sp>
      <p:sp>
        <p:nvSpPr>
          <p:cNvPr id="13" name="Shape 7"/>
          <p:cNvSpPr/>
          <p:nvPr/>
        </p:nvSpPr>
        <p:spPr>
          <a:xfrm>
            <a:off x="365760" y="4617720"/>
            <a:ext cx="2377440" cy="384048"/>
          </a:xfrm>
          <a:prstGeom prst="rect">
            <a:avLst/>
          </a:prstGeom>
          <a:solidFill>
            <a:srgbClr val="E8F0FD"/>
          </a:solidFill>
          <a:ln w="12700">
            <a:solidFill>
              <a:srgbClr val="E8F0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8"/>
          <p:cNvSpPr/>
          <p:nvPr/>
        </p:nvSpPr>
        <p:spPr>
          <a:xfrm>
            <a:off x="438912" y="4645152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Mercury Shitindo  ·  Africa Bioethics Network  ·  March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73152"/>
            <a:ext cx="594360" cy="594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7B7F"/>
          </a:solidFill>
          <a:ln w="12700">
            <a:solidFill>
              <a:srgbClr val="007B7F"/>
            </a:solidFill>
            <a:prstDash val="solid"/>
          </a:ln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983480"/>
            <a:ext cx="201168" cy="16002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2" y="0"/>
            <a:ext cx="201168" cy="498348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07B7F"/>
          </a:solidFill>
          <a:ln w="12700">
            <a:solidFill>
              <a:srgbClr val="007B7F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320040" y="914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ORCID?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320040" y="8686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Persistent Identifier for Every Researcher</a:t>
            </a:r>
            <a:endParaRPr lang="en-US" sz="1400" dirty="0"/>
          </a:p>
        </p:txBody>
      </p:sp>
      <p:sp>
        <p:nvSpPr>
          <p:cNvPr id="10" name="Shape 5"/>
          <p:cNvSpPr/>
          <p:nvPr/>
        </p:nvSpPr>
        <p:spPr>
          <a:xfrm>
            <a:off x="320040" y="1234440"/>
            <a:ext cx="1463040" cy="36576"/>
          </a:xfrm>
          <a:prstGeom prst="rect">
            <a:avLst/>
          </a:prstGeom>
          <a:solidFill>
            <a:srgbClr val="007B7F"/>
          </a:solidFill>
          <a:ln w="12700">
            <a:solidFill>
              <a:srgbClr val="007B7F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320040" y="1325880"/>
            <a:ext cx="3931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ORCID provides researchers with a unique, persistent digital identifier connecting them with their research outputs across journals, funders, institutions, and repositories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accurate attribution and reduces administrative burden across the research workflow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 million researchers worldwide hold active ORCID iDs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1,500+ member organisations in 69 countries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across journals, funders, repositories, and institutional systems globally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4663440" y="868680"/>
            <a:ext cx="4023360" cy="3931920"/>
          </a:xfrm>
          <a:prstGeom prst="rect">
            <a:avLst/>
          </a:prstGeom>
          <a:solidFill>
            <a:srgbClr val="E8F0FD"/>
          </a:solidFill>
          <a:ln w="12700">
            <a:solidFill>
              <a:srgbClr val="E8F0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4663440" y="868680"/>
            <a:ext cx="64008" cy="3931920"/>
          </a:xfrm>
          <a:prstGeom prst="rect">
            <a:avLst/>
          </a:prstGeom>
          <a:solidFill>
            <a:srgbClr val="007B7F"/>
          </a:solidFill>
          <a:ln w="12700">
            <a:solidFill>
              <a:srgbClr val="007B7F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846320" y="10332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Researcher-Controlled Infrastructure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846320" y="146304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ORCID creates value by enabling the collection, connection, and reuse of persistent identifiers and researcher profile data — under the control of researchers themselves.
Researchers decide what information is shared, with whom, and across which systems.</a:t>
            </a:r>
            <a:endParaRPr lang="en-US" sz="1250" dirty="0"/>
          </a:p>
          <a:p>
            <a:pPr marL="0" indent="0">
              <a:lnSpc>
                <a:spcPct val="155000"/>
              </a:lnSpc>
              <a:buNone/>
            </a:pPr>
            <a:endParaRPr lang="en-US" sz="12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orcid.org — free to register, permanently yours.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94360" cy="594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7B7F"/>
          </a:solidFill>
          <a:ln w="12700">
            <a:solidFill>
              <a:srgbClr val="007B7F"/>
            </a:solidFill>
            <a:prstDash val="solid"/>
          </a:ln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83480"/>
            <a:ext cx="201168" cy="16002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2832" y="0"/>
            <a:ext cx="201168" cy="498348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07B7F"/>
          </a:solidFill>
          <a:ln w="12700">
            <a:solidFill>
              <a:srgbClr val="007B7F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320040" y="914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Importance of Research Visibility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320040" y="8686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Visibility Matters</a:t>
            </a:r>
            <a:endParaRPr lang="en-US" sz="1400" dirty="0"/>
          </a:p>
        </p:txBody>
      </p:sp>
      <p:sp>
        <p:nvSpPr>
          <p:cNvPr id="10" name="Shape 5"/>
          <p:cNvSpPr/>
          <p:nvPr/>
        </p:nvSpPr>
        <p:spPr>
          <a:xfrm>
            <a:off x="320040" y="1234440"/>
            <a:ext cx="1463040" cy="36576"/>
          </a:xfrm>
          <a:prstGeom prst="rect">
            <a:avLst/>
          </a:prstGeom>
          <a:solidFill>
            <a:srgbClr val="007B7F"/>
          </a:solidFill>
          <a:ln w="12700">
            <a:solidFill>
              <a:srgbClr val="007B7F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320040" y="1325880"/>
            <a:ext cx="3931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of scholarly contributions globally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collaboration networks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for research funding opportunities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and societal impact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not just technical gaps — they are barriers to scholarly participation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4663440" y="868680"/>
            <a:ext cx="4023360" cy="3931920"/>
          </a:xfrm>
          <a:prstGeom prst="rect">
            <a:avLst/>
          </a:prstGeom>
          <a:solidFill>
            <a:srgbClr val="E8F0FD"/>
          </a:solidFill>
          <a:ln w="12700">
            <a:solidFill>
              <a:srgbClr val="E8F0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4663440" y="868680"/>
            <a:ext cx="64008" cy="3931920"/>
          </a:xfrm>
          <a:prstGeom prst="rect">
            <a:avLst/>
          </a:prstGeom>
          <a:solidFill>
            <a:srgbClr val="007B7F"/>
          </a:solidFill>
          <a:ln w="12700">
            <a:solidFill>
              <a:srgbClr val="007B7F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846320" y="10332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Structural Challenge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846320" y="146304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visibility means being findable, attributable, and connected — not simply published.</a:t>
            </a:r>
            <a:endParaRPr lang="en-US" sz="1250" dirty="0"/>
          </a:p>
          <a:p>
            <a:pPr marL="0" indent="0">
              <a:lnSpc>
                <a:spcPct val="155000"/>
              </a:lnSpc>
              <a:buNone/>
            </a:pPr>
            <a:endParaRPr lang="en-US" sz="12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challenges are not unique to Africa — but they are felt acutely where institutional systems are newer and less integrated. This is where tools like ORCID have the most practical value.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94360" cy="594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7B7F"/>
          </a:solidFill>
          <a:ln w="12700">
            <a:solidFill>
              <a:srgbClr val="007B7F"/>
            </a:solidFill>
            <a:prstDash val="solid"/>
          </a:ln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83480"/>
            <a:ext cx="201168" cy="1600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D4900A"/>
          </a:solidFill>
          <a:ln w="12700">
            <a:solidFill>
              <a:srgbClr val="D4900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in the African Research Ecosystem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320040" y="868680"/>
            <a:ext cx="2724912" cy="395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320040" y="868680"/>
            <a:ext cx="2724912" cy="777240"/>
          </a:xfrm>
          <a:prstGeom prst="rect">
            <a:avLst/>
          </a:prstGeom>
          <a:solidFill>
            <a:srgbClr val="007B7F"/>
          </a:solidFill>
          <a:ln w="12700">
            <a:solidFill>
              <a:srgbClr val="007B7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35024" y="996696"/>
            <a:ext cx="512064" cy="51206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335024" y="996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84632" y="1709928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Ambiguity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1225296" y="2167128"/>
            <a:ext cx="914400" cy="36576"/>
          </a:xfrm>
          <a:prstGeom prst="rect">
            <a:avLst/>
          </a:prstGeom>
          <a:solidFill>
            <a:srgbClr val="007B7F"/>
          </a:solidFill>
          <a:ln w="12700">
            <a:solidFill>
              <a:srgbClr val="007B7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02920" y="2295144"/>
            <a:ext cx="23591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variants, spelling differences across languages, and institutional changes mean researchers can appear as multiple different people — or not appear at all — in global databases.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264408" y="868680"/>
            <a:ext cx="2724912" cy="395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64408" y="868680"/>
            <a:ext cx="2724912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279392" y="996696"/>
            <a:ext cx="512064" cy="51206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279392" y="996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3429000" y="1709928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Systems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4169664" y="2167128"/>
            <a:ext cx="914400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447288" y="2295144"/>
            <a:ext cx="23591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Journals, funders, repositories, and institutional systems rarely interoperate. Research outputs become stranded in disconnected platforms with no shared researcher identity layer.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208776" y="868680"/>
            <a:ext cx="2724912" cy="395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208776" y="868680"/>
            <a:ext cx="2724912" cy="77724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223760" y="996696"/>
            <a:ext cx="512064" cy="51206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223760" y="996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6373368" y="1709928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Outputs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7114032" y="2167128"/>
            <a:ext cx="914400" cy="36576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391656" y="2295144"/>
            <a:ext cx="23591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researchers move between institutions — or when affiliations are recorded inconsistently — it becomes difficult to track the full body of a researcher's work across time and place.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73152"/>
            <a:ext cx="594360" cy="594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7B7F"/>
          </a:solidFill>
          <a:ln w="12700">
            <a:solidFill>
              <a:srgbClr val="007B7F"/>
            </a:solidFill>
            <a:prstDash val="solid"/>
          </a:ln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983480"/>
            <a:ext cx="201168" cy="16002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2" y="0"/>
            <a:ext cx="201168" cy="498348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07B7F"/>
          </a:solidFill>
          <a:ln w="12700">
            <a:solidFill>
              <a:srgbClr val="007B7F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320040" y="914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ORCID Does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320040" y="8686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Persistent Identifier</a:t>
            </a:r>
            <a:endParaRPr lang="en-US" sz="1400" dirty="0"/>
          </a:p>
        </p:txBody>
      </p:sp>
      <p:sp>
        <p:nvSpPr>
          <p:cNvPr id="10" name="Shape 5"/>
          <p:cNvSpPr/>
          <p:nvPr/>
        </p:nvSpPr>
        <p:spPr>
          <a:xfrm>
            <a:off x="320040" y="1234440"/>
            <a:ext cx="1463040" cy="36576"/>
          </a:xfrm>
          <a:prstGeom prst="rect">
            <a:avLst/>
          </a:prstGeom>
          <a:solidFill>
            <a:srgbClr val="007B7F"/>
          </a:solidFill>
          <a:ln w="12700">
            <a:solidFill>
              <a:srgbClr val="007B7F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320040" y="1325880"/>
            <a:ext cx="3931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Researcher-owned and free to register — permanently yours, regardless of institution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16-digit persistent identifier that distinguishes you from every other researcher globally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all research outputs — publications, grants, affiliations, peer review, and datasets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across journals, funders, repositories, and institutional systems worldwide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 million active ORCID iDs globally — in 1,500+ member organisations across 69 countries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4663440" y="868680"/>
            <a:ext cx="4023360" cy="3931920"/>
          </a:xfrm>
          <a:prstGeom prst="rect">
            <a:avLst/>
          </a:prstGeom>
          <a:solidFill>
            <a:srgbClr val="E8F0FD"/>
          </a:solidFill>
          <a:ln w="12700">
            <a:solidFill>
              <a:srgbClr val="E8F0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4663440" y="868680"/>
            <a:ext cx="64008" cy="3931920"/>
          </a:xfrm>
          <a:prstGeom prst="rect">
            <a:avLst/>
          </a:prstGeom>
          <a:solidFill>
            <a:srgbClr val="007B7F"/>
          </a:solidFill>
          <a:ln w="12700">
            <a:solidFill>
              <a:srgbClr val="007B7F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846320" y="10332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Stable Scholarly Identity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846320" y="146304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 may change.
Your institution may change.
Your country of affiliation may change.
Your ORCID iD stays the same — permanently linking your scholarly identity across every platform you use.</a:t>
            </a:r>
            <a:endParaRPr lang="en-US" sz="1250" dirty="0"/>
          </a:p>
          <a:p>
            <a:pPr marL="0" indent="0">
              <a:lnSpc>
                <a:spcPct val="155000"/>
              </a:lnSpc>
              <a:buNone/>
            </a:pPr>
            <a:endParaRPr lang="en-US" sz="12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iD: 0000-0002-3814-8786
One identifier. Permanent. Portable. Recognised everywhere in the global research ecosystem.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94360" cy="594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7B7F"/>
          </a:solidFill>
          <a:ln w="12700">
            <a:solidFill>
              <a:srgbClr val="007B7F"/>
            </a:solidFill>
            <a:prstDash val="solid"/>
          </a:ln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83480"/>
            <a:ext cx="201168" cy="16002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2832" y="0"/>
            <a:ext cx="201168" cy="498348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2C3E"/>
          </a:solidFill>
          <a:ln w="12700">
            <a:solidFill>
              <a:srgbClr val="2C2C3E"/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D4900A"/>
          </a:solidFill>
          <a:ln w="12700">
            <a:solidFill>
              <a:srgbClr val="D4900A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ORCID Across the Research Workflow</a:t>
            </a:r>
            <a:endParaRPr lang="en-US" sz="2200" dirty="0"/>
          </a:p>
        </p:txBody>
      </p:sp>
      <p:sp>
        <p:nvSpPr>
          <p:cNvPr id="9" name="Shape 4"/>
          <p:cNvSpPr/>
          <p:nvPr/>
        </p:nvSpPr>
        <p:spPr>
          <a:xfrm>
            <a:off x="274320" y="841248"/>
            <a:ext cx="8430768" cy="868680"/>
          </a:xfrm>
          <a:prstGeom prst="rect">
            <a:avLst/>
          </a:prstGeom>
          <a:solidFill>
            <a:srgbClr val="E8F0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384048" y="964692"/>
            <a:ext cx="621792" cy="621792"/>
          </a:xfrm>
          <a:prstGeom prst="ellipse">
            <a:avLst/>
          </a:prstGeom>
          <a:solidFill>
            <a:srgbClr val="007B7F"/>
          </a:solidFill>
          <a:ln w="12700">
            <a:solidFill>
              <a:srgbClr val="007B7F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384048" y="9646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1170432" y="9326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Manuscript Submission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3822192" y="950976"/>
            <a:ext cx="36576" cy="64922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3986784" y="932688"/>
            <a:ext cx="4553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your iD at submission — journal systems auto-populate your affiliation and prior work, reducing errors.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274320" y="1847088"/>
            <a:ext cx="843076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384048" y="1970532"/>
            <a:ext cx="621792" cy="62179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384048" y="197053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1170432" y="19385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Applications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3822192" y="1956816"/>
            <a:ext cx="36576" cy="64922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986784" y="1938528"/>
            <a:ext cx="4553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records flow automatically into your ORCID profile — no more re-entering the same details for every application.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274320" y="2852928"/>
            <a:ext cx="8430768" cy="868680"/>
          </a:xfrm>
          <a:prstGeom prst="rect">
            <a:avLst/>
          </a:prstGeom>
          <a:solidFill>
            <a:srgbClr val="E8F0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84048" y="2976372"/>
            <a:ext cx="621792" cy="621792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384048" y="297637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19"/>
          <p:cNvSpPr/>
          <p:nvPr/>
        </p:nvSpPr>
        <p:spPr>
          <a:xfrm>
            <a:off x="1170432" y="29443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 Recognition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3822192" y="2962656"/>
            <a:ext cx="36576" cy="64922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3986784" y="2944368"/>
            <a:ext cx="4553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ORCID-linked review records give peer reviewers formal credit — making previously invisible scholarly work visible.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274320" y="3858768"/>
            <a:ext cx="843076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84048" y="3982212"/>
            <a:ext cx="621792" cy="621792"/>
          </a:xfrm>
          <a:prstGeom prst="ellipse">
            <a:avLst/>
          </a:prstGeom>
          <a:solidFill>
            <a:srgbClr val="D4900A"/>
          </a:solidFill>
          <a:ln w="12700">
            <a:solidFill>
              <a:srgbClr val="D4900A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384048" y="398221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Text 25"/>
          <p:cNvSpPr/>
          <p:nvPr/>
        </p:nvSpPr>
        <p:spPr>
          <a:xfrm>
            <a:off x="1170432" y="39502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Reporting &amp; Repositories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3822192" y="3968496"/>
            <a:ext cx="36576" cy="64922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3986784" y="3950208"/>
            <a:ext cx="4553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use ORCID data to track outputs, verify affiliations, and meet funder reporting requirements.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73152"/>
            <a:ext cx="594360" cy="594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7B7F"/>
          </a:solidFill>
          <a:ln w="12700">
            <a:solidFill>
              <a:srgbClr val="007B7F"/>
            </a:solidFill>
            <a:prstDash val="solid"/>
          </a:ln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983480"/>
            <a:ext cx="201168" cy="16002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2" y="0"/>
            <a:ext cx="201168" cy="498348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07B7F"/>
          </a:solidFill>
          <a:ln w="12700">
            <a:solidFill>
              <a:srgbClr val="007B7F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320040" y="914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Benefits for Researchers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320040" y="8686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Researchers Gain</a:t>
            </a:r>
            <a:endParaRPr lang="en-US" sz="1400" dirty="0"/>
          </a:p>
        </p:txBody>
      </p:sp>
      <p:sp>
        <p:nvSpPr>
          <p:cNvPr id="10" name="Shape 5"/>
          <p:cNvSpPr/>
          <p:nvPr/>
        </p:nvSpPr>
        <p:spPr>
          <a:xfrm>
            <a:off x="320040" y="1234440"/>
            <a:ext cx="1463040" cy="36576"/>
          </a:xfrm>
          <a:prstGeom prst="rect">
            <a:avLst/>
          </a:prstGeom>
          <a:solidFill>
            <a:srgbClr val="007B7F"/>
          </a:solidFill>
          <a:ln w="12700">
            <a:solidFill>
              <a:srgbClr val="007B7F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320040" y="1325880"/>
            <a:ext cx="3931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persistent scholarly identity that follows you across institutions, name changes, and career moves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outputs — publications, grants, datasets — link automatically and stay current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submission to ORCID-integrated journals, funders, and repositories worldwide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repetitive data entry — fill in your details once and share them across systems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attribution of your work, recognised in global databases and research evaluations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4663440" y="868680"/>
            <a:ext cx="4023360" cy="3931920"/>
          </a:xfrm>
          <a:prstGeom prst="rect">
            <a:avLst/>
          </a:prstGeom>
          <a:solidFill>
            <a:srgbClr val="E8F0FD"/>
          </a:solidFill>
          <a:ln w="12700">
            <a:solidFill>
              <a:srgbClr val="E8F0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4663440" y="868680"/>
            <a:ext cx="64008" cy="3931920"/>
          </a:xfrm>
          <a:prstGeom prst="rect">
            <a:avLst/>
          </a:prstGeom>
          <a:solidFill>
            <a:srgbClr val="007B7F"/>
          </a:solidFill>
          <a:ln w="12700">
            <a:solidFill>
              <a:srgbClr val="007B7F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846320" y="10332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ABN's Experience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846320" y="146304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ABN's 1,300+ member community in 42 countries, ORCID adoption has helped researchers maintain consistent scholarly identities across multiple national and institutional contexts.</a:t>
            </a:r>
            <a:endParaRPr lang="en-US" sz="1250" dirty="0"/>
          </a:p>
          <a:p>
            <a:pPr marL="0" indent="0">
              <a:lnSpc>
                <a:spcPct val="155000"/>
              </a:lnSpc>
              <a:buNone/>
            </a:pPr>
            <a:endParaRPr lang="en-US" sz="12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African Journal of Bioethics now integrates ORCID into author submission workflows — ensuring that every contributing researcher receives accurate, persistent attribution for their published work.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73152"/>
            <a:ext cx="594360" cy="594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7B7F"/>
          </a:solidFill>
          <a:ln w="12700">
            <a:solidFill>
              <a:srgbClr val="007B7F"/>
            </a:solidFill>
            <a:prstDash val="solid"/>
          </a:ln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983480"/>
            <a:ext cx="201168" cy="1600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D4900A"/>
          </a:solidFill>
          <a:ln w="12700">
            <a:solidFill>
              <a:srgbClr val="D4900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Benefits for Institutions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320040" y="868680"/>
            <a:ext cx="2724912" cy="395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320040" y="868680"/>
            <a:ext cx="2724912" cy="777240"/>
          </a:xfrm>
          <a:prstGeom prst="rect">
            <a:avLst/>
          </a:prstGeom>
          <a:solidFill>
            <a:srgbClr val="007B7F"/>
          </a:solidFill>
          <a:ln w="12700">
            <a:solidFill>
              <a:srgbClr val="007B7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35024" y="996696"/>
            <a:ext cx="512064" cy="51206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335024" y="996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84632" y="1709928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Tracking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1225296" y="2167128"/>
            <a:ext cx="914400" cy="36576"/>
          </a:xfrm>
          <a:prstGeom prst="rect">
            <a:avLst/>
          </a:prstGeom>
          <a:solidFill>
            <a:srgbClr val="007B7F"/>
          </a:solidFill>
          <a:ln w="12700">
            <a:solidFill>
              <a:srgbClr val="007B7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02920" y="2295144"/>
            <a:ext cx="23591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Accurate, real-time tracking of all research outputs affiliated with an institution — across journals, funders, repositories, and collaborative projects.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264408" y="868680"/>
            <a:ext cx="2724912" cy="395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64408" y="868680"/>
            <a:ext cx="2724912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279392" y="996696"/>
            <a:ext cx="512064" cy="51206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279392" y="996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3429000" y="1709928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Compliance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4169664" y="2167128"/>
            <a:ext cx="914400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447288" y="2295144"/>
            <a:ext cx="23591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funder compliance via ORCID-integrated CRIS systems. ORCID also contributes to research integrity through validated affiliations and trusted institutional metadata.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208776" y="868680"/>
            <a:ext cx="2724912" cy="395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208776" y="868680"/>
            <a:ext cx="2724912" cy="77724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223760" y="996696"/>
            <a:ext cx="512064" cy="51206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223760" y="996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6373368" y="1709928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Integration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7114032" y="2167128"/>
            <a:ext cx="914400" cy="36576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391656" y="2295144"/>
            <a:ext cx="23591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to global publishing platforms, research databases, and international funding systems — strengthening institutional presence and discoverability worldwide.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94360" cy="594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7B7F"/>
          </a:solidFill>
          <a:ln w="12700">
            <a:solidFill>
              <a:srgbClr val="007B7F"/>
            </a:solidFill>
            <a:prstDash val="solid"/>
          </a:ln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83480"/>
            <a:ext cx="201168" cy="16002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11480" cy="498348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411480" y="0"/>
            <a:ext cx="8732520" cy="68580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5943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ORCID and Global Research Participation</a:t>
            </a:r>
            <a:endParaRPr lang="en-US" sz="2200" dirty="0"/>
          </a:p>
        </p:txBody>
      </p:sp>
      <p:sp>
        <p:nvSpPr>
          <p:cNvPr id="8" name="Text 3"/>
          <p:cNvSpPr/>
          <p:nvPr/>
        </p:nvSpPr>
        <p:spPr>
          <a:xfrm>
            <a:off x="457200" y="54864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dirty="0">
                <a:solidFill>
                  <a:srgbClr val="007B7F">
                    <a:alpha val="6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1000" dirty="0"/>
          </a:p>
        </p:txBody>
      </p:sp>
      <p:sp>
        <p:nvSpPr>
          <p:cNvPr id="9" name="Text 4"/>
          <p:cNvSpPr/>
          <p:nvPr/>
        </p:nvSpPr>
        <p:spPr>
          <a:xfrm>
            <a:off x="1188720" y="1005840"/>
            <a:ext cx="7132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i="1" dirty="0">
                <a:solidFill>
                  <a:srgbClr val="1B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connecting researchers across systems, ORCID helps ensure that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i="1" dirty="0">
                <a:solidFill>
                  <a:srgbClr val="1B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African research outputs are discoverable, researchers receive proper credit, and scholarship becomes part of global research conversations.</a:t>
            </a:r>
            <a:endParaRPr lang="en-US" sz="2000" dirty="0"/>
          </a:p>
        </p:txBody>
      </p:sp>
      <p:sp>
        <p:nvSpPr>
          <p:cNvPr id="10" name="Shape 5"/>
          <p:cNvSpPr/>
          <p:nvPr/>
        </p:nvSpPr>
        <p:spPr>
          <a:xfrm>
            <a:off x="1188720" y="2701200"/>
            <a:ext cx="1828800" cy="45720"/>
          </a:xfrm>
          <a:prstGeom prst="rect">
            <a:avLst/>
          </a:prstGeom>
          <a:solidFill>
            <a:srgbClr val="D4900A"/>
          </a:solidFill>
          <a:ln w="12700">
            <a:solidFill>
              <a:srgbClr val="D4900A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1188720" y="268833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Africa Bioethics Network, ORCID in Action Webinar, March 2026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594360" y="3108960"/>
            <a:ext cx="8229600" cy="1691640"/>
          </a:xfrm>
          <a:prstGeom prst="rect">
            <a:avLst/>
          </a:prstGeom>
          <a:solidFill>
            <a:srgbClr val="E8F0FD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594360" y="3108960"/>
            <a:ext cx="64008" cy="169164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804672" y="309067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Foundational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804672" y="3547872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ORCID helps African research move from isolated national outputs to connected global knowledge systems. ORCID has expanded its Global Participation Programme to support adoption across the Global South — including new consortia in Uganda and Nigeria.
For a research ecosystem navigating structural barriers to global visibility, this is not a technical convenience. It is a matter of research equity and participation.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1371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B2B5E">
              <a:alpha val="70000"/>
            </a:srgbClr>
          </a:solidFill>
          <a:ln w="12700">
            <a:solidFill>
              <a:srgbClr val="1B2B5E"/>
            </a:solidFill>
            <a:prstDash val="solid"/>
          </a:ln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71600"/>
            <a:ext cx="457200" cy="37719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14400" y="1600200"/>
            <a:ext cx="822960" cy="822960"/>
          </a:xfrm>
          <a:prstGeom prst="ellipse">
            <a:avLst/>
          </a:prstGeom>
          <a:solidFill>
            <a:srgbClr val="007B7F"/>
          </a:solidFill>
          <a:ln w="12700">
            <a:solidFill>
              <a:srgbClr val="007B7F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914400" y="16276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920240" y="160020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7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920240" y="201168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ORCID Strengthens</a:t>
            </a:r>
            <a:endParaRPr lang="en-US" sz="3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Research Ecosystem</a:t>
            </a:r>
            <a:endParaRPr lang="en-US" sz="3800" dirty="0"/>
          </a:p>
        </p:txBody>
      </p:sp>
      <p:sp>
        <p:nvSpPr>
          <p:cNvPr id="9" name="Shape 5"/>
          <p:cNvSpPr/>
          <p:nvPr/>
        </p:nvSpPr>
        <p:spPr>
          <a:xfrm>
            <a:off x="1920240" y="3611880"/>
            <a:ext cx="3200400" cy="54864"/>
          </a:xfrm>
          <a:prstGeom prst="rect">
            <a:avLst/>
          </a:prstGeom>
          <a:solidFill>
            <a:srgbClr val="D4900A"/>
          </a:solidFill>
          <a:ln w="12700">
            <a:solidFill>
              <a:srgbClr val="D4900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920240" y="37673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B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attribution. Enhancing discoverability. Connecting researchers and institutions across the global scholarly system.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943600" y="4754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Bioethics Network  · 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1828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1B2B5E">
              <a:alpha val="80000"/>
            </a:srgbClr>
          </a:solidFill>
          <a:ln w="12700">
            <a:solidFill>
              <a:srgbClr val="1B2B5E"/>
            </a:solidFill>
            <a:prstDash val="solid"/>
          </a:ln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5486400" y="1371600"/>
            <a:ext cx="3657600" cy="37719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828800"/>
            <a:ext cx="411480" cy="331470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1920" y="1874520"/>
            <a:ext cx="1280160" cy="1261872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548640" y="336499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8" name="Shape 2"/>
          <p:cNvSpPr/>
          <p:nvPr/>
        </p:nvSpPr>
        <p:spPr>
          <a:xfrm>
            <a:off x="3474720" y="4133088"/>
            <a:ext cx="2194560" cy="50292"/>
          </a:xfrm>
          <a:prstGeom prst="rect">
            <a:avLst/>
          </a:prstGeom>
          <a:solidFill>
            <a:srgbClr val="D4900A"/>
          </a:solidFill>
          <a:ln w="12700">
            <a:solidFill>
              <a:srgbClr val="D4900A"/>
            </a:solidFill>
            <a:prstDash val="solid"/>
          </a:ln>
        </p:spPr>
      </p:sp>
      <p:sp>
        <p:nvSpPr>
          <p:cNvPr id="9" name="Text 3"/>
          <p:cNvSpPr/>
          <p:nvPr/>
        </p:nvSpPr>
        <p:spPr>
          <a:xfrm>
            <a:off x="548640" y="4251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Mercury Shitindo  ·  mshitindo@africabioethicsnetwork.org  ·  ORCID: 0000-0002-3814-8786</a:t>
            </a:r>
            <a:endParaRPr lang="en-US" sz="115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Text 4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www.africabioethicsnetwork.org</a:t>
            </a:r>
            <a:r>
              <a:rPr lang="en-US" sz="1100" i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African Journal of Bioethics  ·  @africabioethics</a:t>
            </a:r>
            <a:endParaRPr lang="en-US" sz="11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970</Words>
  <Application>Microsoft Macintosh PowerPoint</Application>
  <PresentationFormat>On-screen Show (16:9)</PresentationFormat>
  <Paragraphs>105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ABN Presentation Template</dc:title>
  <dc:subject>PptxGenJS Presentation</dc:subject>
  <dc:creator>Africa Bioethics Network</dc:creator>
  <cp:lastModifiedBy>Mercury Shitindo</cp:lastModifiedBy>
  <cp:revision>3</cp:revision>
  <dcterms:created xsi:type="dcterms:W3CDTF">2026-03-09T23:10:24Z</dcterms:created>
  <dcterms:modified xsi:type="dcterms:W3CDTF">2026-03-12T00:08:24Z</dcterms:modified>
</cp:coreProperties>
</file>