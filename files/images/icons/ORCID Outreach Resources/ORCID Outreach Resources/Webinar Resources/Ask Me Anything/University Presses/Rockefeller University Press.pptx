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3"/>
  </p:notesMasterIdLst>
  <p:sldIdLst>
    <p:sldId id="263" r:id="rId2"/>
    <p:sldId id="267" r:id="rId3"/>
    <p:sldId id="11751" r:id="rId4"/>
    <p:sldId id="11754" r:id="rId5"/>
    <p:sldId id="293" r:id="rId6"/>
    <p:sldId id="11750" r:id="rId7"/>
    <p:sldId id="11749" r:id="rId8"/>
    <p:sldId id="11753" r:id="rId9"/>
    <p:sldId id="11757" r:id="rId10"/>
    <p:sldId id="11756" r:id="rId11"/>
    <p:sldId id="1175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51" autoAdjust="0"/>
    <p:restoredTop sz="64842" autoAdjust="0"/>
  </p:normalViewPr>
  <p:slideViewPr>
    <p:cSldViewPr snapToGrid="0">
      <p:cViewPr varScale="1">
        <p:scale>
          <a:sx n="62" d="100"/>
          <a:sy n="62" d="100"/>
        </p:scale>
        <p:origin x="10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79C19-ABCF-4FCD-9C4A-8B1BCC6F73DA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917B0-607E-4685-9AB1-894E5919F7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106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3FC10-234F-1048-980D-B2FC10E8484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127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3FC10-234F-1048-980D-B2FC10E8484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364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65CD-608B-8244-0E5B-09415CCD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F22AA-5A32-F591-D45D-634DBD5DA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686EF-324F-9C8F-172E-561B7B4B0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42F2C-F3E3-F754-5896-15A9A8411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3FC10-234F-1048-980D-B2FC10E8484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604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80634-0BE3-F1EE-6ED3-22B38891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7F450-222F-AC5C-36AE-B0A045B46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DD42D-66D4-542F-6DEE-BE721E90A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225A5-9F81-67EB-21B2-4610BA725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3FC10-234F-1048-980D-B2FC10E8484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627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574334-9346-4092-BA6F-62C057E02AF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746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3FC10-234F-1048-980D-B2FC10E8484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871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3FC10-234F-1048-980D-B2FC10E8484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08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D8616-565C-0307-53E8-64E11D74E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A5EE7-2880-748F-9364-196165F4F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74C34-DA5C-6825-0397-0B7C87525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C3F4C-5E57-33CF-BCE6-71534353B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3FC10-234F-1048-980D-B2FC10E8484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714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DCEDA-7B81-E49F-4180-E438B4CE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F4B41-A4D1-76BC-8602-096B514E2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1FD34-A94C-3748-13A5-35E3B761B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0204B-9CC2-65A6-1926-D6AD480FE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3FC10-234F-1048-980D-B2FC10E8484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899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917B0-607E-4685-9AB1-894E5919F79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877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347E-B6B0-3F98-A206-67C89E689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F1632-B4FD-9A4B-FE6E-7F66F9A52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0F6FB-C3E0-7373-BC68-56A70090C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FD68B-7BAA-F24F-9ECF-5623A3E9D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3FC10-234F-1048-980D-B2FC10E8484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77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C7EC8-98EC-4336-84E4-98A41B327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A80A95-5EF5-2BE1-B2E5-4421B9FE9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7F68D-1C23-BDD9-63A0-3F7DBAFE0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9288-1E1D-4543-9688-81592A391DA4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34714-5B13-90D3-F818-B8F50C7A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E885C-563B-88B1-B326-9CDD5B52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616F-B4F8-4C1A-8B0C-5E483E2023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55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66ACE-9745-BFA0-0FEC-1D9482F5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EAB1-68B3-169E-8A83-4045B4887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E7CF7-DD95-BB9F-019C-575C87DC6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9288-1E1D-4543-9688-81592A391DA4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85612-9F04-44B6-5686-560F0BBE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E3CFF-ACFC-0250-EC5F-37650C9E1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616F-B4F8-4C1A-8B0C-5E483E2023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625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6A818-60A8-DE7F-51C8-E1C39B29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E5D47-2F81-CD52-0583-25CD88936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995C7-6B1E-FC8E-E9B2-5868107DD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9288-1E1D-4543-9688-81592A391DA4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9A0CB-388B-B91B-718E-9FB098CB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95381-F96F-030A-9251-60200FBD8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616F-B4F8-4C1A-8B0C-5E483E2023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80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B0820-7CE5-BDB2-777E-D9503B97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62BC3-921B-8C81-3AB2-780444A6A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AF801-66C5-D3C8-B751-BD1215BA7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E589C-95A0-FEF2-6E5D-96662AB7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9288-1E1D-4543-9688-81592A391DA4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FDB82-BCE1-B857-BF69-03F5452E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B7D9A-2A19-08F7-6A44-57BEE1BD1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616F-B4F8-4C1A-8B0C-5E483E2023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3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3F3A-12EC-9327-2759-96428E1FE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5F2B5-C91B-4F07-D58A-DD3112998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39A85-162F-ADF8-6D41-1DC463A02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97DC29-6398-E672-C068-340C6C215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570F5-1956-686F-9AF1-F248C3299A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2776C8-5D90-87FE-9709-58BECB60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9288-1E1D-4543-9688-81592A391DA4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025DF2-5D74-D9DE-A08E-580124134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F8D3BA-2D2F-D32B-75DD-4C66FBFB4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616F-B4F8-4C1A-8B0C-5E483E2023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24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44F4-559F-9B4C-0677-5847444C2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12669B-BA5B-36B2-139D-E1DE5055A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9288-1E1D-4543-9688-81592A391DA4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F80BB2-7492-496D-18FC-1ACC10D4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416A4-78B6-3522-79C0-80C4D18E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616F-B4F8-4C1A-8B0C-5E483E2023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65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0884A-2862-0736-E2FA-86DD9008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9288-1E1D-4543-9688-81592A391DA4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CA921-4D47-9C21-9E1C-A84E2A26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E3B76-C6D7-0703-56AF-BED50833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616F-B4F8-4C1A-8B0C-5E483E2023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004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A294-2F12-7189-1C67-AF9BEE53D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2B35B-CE8F-DEBA-FE36-C4E55EE84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CB97D-2548-7A19-85B0-AB7D1DF77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F0EDE-4E72-7143-F4D4-E0F4DEA1F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9288-1E1D-4543-9688-81592A391DA4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FE999-8F6A-AFD4-8DD3-689DA169E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ECB8D-FA4B-F07A-767A-3A82ABA4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616F-B4F8-4C1A-8B0C-5E483E2023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76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4435-2734-F371-EA19-7DF3C5ADC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AE80AF-8A31-1F76-AE5C-D41F0FE4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FE98F-7033-27B6-BBCF-2ECB6D2CB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19BEB-F00A-3CC4-292C-27727FD1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9288-1E1D-4543-9688-81592A391DA4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ECFC6-612C-7F5C-3B9F-C4E64CBE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012AA-CF0C-222A-C290-2D2C4CC8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616F-B4F8-4C1A-8B0C-5E483E2023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861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F1D8-C9BE-E38D-8B59-01E681D0C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1092B-9919-C2B9-752F-DF786FDEB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9E3E4-6863-A525-E6FC-48F3357A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9288-1E1D-4543-9688-81592A391DA4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79B2E-B642-568E-27FA-F9BCAFE3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9DB59-8A09-005D-AB97-CD64594C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616F-B4F8-4C1A-8B0C-5E483E2023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51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03E5E5-0089-39CD-F8E0-15BADF7E8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34F7A-F820-04D9-A5AE-F1A4FEA78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FB1A7-6657-23F1-A555-6BC26ED96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9288-1E1D-4543-9688-81592A391DA4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C82AF-5C79-C3EE-EDC1-E843B978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4AF34-C946-D7D1-951F-964ABCE31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616F-B4F8-4C1A-8B0C-5E483E2023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930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ternate cover">
    <p:bg>
      <p:bgPr>
        <a:solidFill>
          <a:srgbClr val="003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47479" y="1755122"/>
            <a:ext cx="11475925" cy="5397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000" b="1" i="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47479" y="2369145"/>
            <a:ext cx="11475925" cy="5397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1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47480" y="3347074"/>
            <a:ext cx="11475924" cy="39826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 spc="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>
              <a:defRPr sz="1800" b="0" i="0">
                <a:solidFill>
                  <a:srgbClr val="2D515E"/>
                </a:solidFill>
                <a:latin typeface="Verdana" charset="0"/>
                <a:ea typeface="Verdana" charset="0"/>
                <a:cs typeface="Verdana" charset="0"/>
              </a:defRPr>
            </a:lvl2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09289" y="2908895"/>
            <a:ext cx="5123059" cy="49510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97" y="5613296"/>
            <a:ext cx="2193926" cy="91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53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47663" y="331788"/>
            <a:ext cx="11415712" cy="42068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 baseline="0">
                <a:solidFill>
                  <a:srgbClr val="003469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lvl="0"/>
            <a:r>
              <a:rPr lang="en-US" dirty="0"/>
              <a:t>Title A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47663" y="795527"/>
            <a:ext cx="11415712" cy="42068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1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lvl="0"/>
            <a:r>
              <a:rPr lang="en-US" dirty="0"/>
              <a:t>Title B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47480" y="1666712"/>
            <a:ext cx="11415895" cy="39826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 spc="12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  <a:lvl2pPr>
              <a:defRPr sz="1800" b="0" i="0">
                <a:solidFill>
                  <a:srgbClr val="2D515E"/>
                </a:solidFill>
                <a:latin typeface="Verdana" charset="0"/>
                <a:ea typeface="Verdana" charset="0"/>
                <a:cs typeface="Verdana" charset="0"/>
              </a:defRPr>
            </a:lvl2pPr>
          </a:lstStyle>
          <a:p>
            <a:pPr lvl="0"/>
            <a:r>
              <a:rPr lang="en-US" dirty="0"/>
              <a:t>TITLE C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347480" y="2147975"/>
            <a:ext cx="11415895" cy="39826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 spc="0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>
              <a:defRPr sz="1800" b="0" i="0">
                <a:solidFill>
                  <a:srgbClr val="2D515E"/>
                </a:solidFill>
                <a:latin typeface="Verdana" charset="0"/>
                <a:ea typeface="Verdana" charset="0"/>
                <a:cs typeface="Verdana" charset="0"/>
              </a:defRPr>
            </a:lvl2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47480" y="2788513"/>
            <a:ext cx="11415895" cy="398266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spc="0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>
              <a:defRPr sz="1800" b="0" i="0">
                <a:solidFill>
                  <a:srgbClr val="2D515E"/>
                </a:solidFill>
                <a:latin typeface="Verdana" charset="0"/>
                <a:ea typeface="Verdana" charset="0"/>
                <a:cs typeface="Verdana" charset="0"/>
              </a:defRPr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2D515E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</a:rPr>
              <a:t>Title D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47480" y="3279966"/>
            <a:ext cx="11415895" cy="39826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 spc="0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>
              <a:defRPr sz="1800" b="0" i="0">
                <a:solidFill>
                  <a:srgbClr val="2D515E"/>
                </a:solidFill>
                <a:latin typeface="Verdana" charset="0"/>
                <a:ea typeface="Verdana" charset="0"/>
                <a:cs typeface="Verdana" charset="0"/>
              </a:defRPr>
            </a:lvl2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11" y="5943599"/>
            <a:ext cx="1513250" cy="55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50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83A45D-0B9F-2076-80D4-6E36327A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54B89-6318-A461-59CF-F16799507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A8436-9AEE-D0D8-5A42-42BF5ABB1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B19288-1E1D-4543-9688-81592A391DA4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95BFB-DDB5-5981-AAE5-A2280B456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630A8-C222-A370-CF04-60A83713A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4B616F-B4F8-4C1A-8B0C-5E483E2023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60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title" idx="4294967295"/>
          </p:nvPr>
        </p:nvSpPr>
        <p:spPr>
          <a:xfrm>
            <a:off x="347479" y="772480"/>
            <a:ext cx="11844521" cy="5397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</a:rPr>
              <a:t> </a:t>
            </a:r>
            <a:b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</a:rPr>
            </a:br>
            <a:b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</a:rPr>
            </a:br>
            <a:b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</a:rPr>
            </a:b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</a:rPr>
              <a:t>Rockefeller University Press and ORCID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347480" y="3131707"/>
            <a:ext cx="11475924" cy="398266"/>
          </a:xfrm>
        </p:spPr>
        <p:txBody>
          <a:bodyPr>
            <a:noAutofit/>
          </a:bodyPr>
          <a:lstStyle/>
          <a:p>
            <a:r>
              <a:rPr lang="en-US" dirty="0"/>
              <a:t>September 30, 2025</a:t>
            </a:r>
          </a:p>
          <a:p>
            <a:r>
              <a:rPr lang="en-US" dirty="0"/>
              <a:t>Rob O’Donnell</a:t>
            </a:r>
          </a:p>
          <a:p>
            <a:r>
              <a:rPr lang="en-US" dirty="0"/>
              <a:t>Senior Director of Publishing</a:t>
            </a:r>
          </a:p>
          <a:p>
            <a:r>
              <a:rPr lang="en-US" dirty="0"/>
              <a:t>Rockefeller University Press</a:t>
            </a:r>
          </a:p>
          <a:p>
            <a:r>
              <a:rPr lang="en-US" dirty="0"/>
              <a:t>    0000-0002-8112-769X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1B61DB-87DF-4D4E-E296-01383D3C8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58" y="4690682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25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97;p14">
            <a:extLst>
              <a:ext uri="{FF2B5EF4-FFF2-40B4-BE49-F238E27FC236}">
                <a16:creationId xmlns:a16="http://schemas.microsoft.com/office/drawing/2014/main" id="{1A489099-3110-69E5-D38C-4131A3D5199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7479" y="335391"/>
            <a:ext cx="11007457" cy="46162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469"/>
              </a:buClr>
              <a:buSzPts val="1800"/>
              <a:buFont typeface="Verdana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469"/>
                </a:solidFill>
                <a:effectLst/>
                <a:uLnTx/>
                <a:uFillTx/>
                <a:latin typeface="Verdana"/>
                <a:ea typeface="Verdana"/>
                <a:cs typeface="Verdana"/>
                <a:sym typeface="Verdana"/>
              </a:rPr>
              <a:t>Rockefeller University Press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" name="Google Shape;119;p14">
            <a:extLst>
              <a:ext uri="{FF2B5EF4-FFF2-40B4-BE49-F238E27FC236}">
                <a16:creationId xmlns:a16="http://schemas.microsoft.com/office/drawing/2014/main" id="{19C3C8A4-BB7F-428F-CD0E-F4E99BC96F61}"/>
              </a:ext>
            </a:extLst>
          </p:cNvPr>
          <p:cNvSpPr txBox="1"/>
          <p:nvPr/>
        </p:nvSpPr>
        <p:spPr>
          <a:xfrm>
            <a:off x="171450" y="1158309"/>
            <a:ext cx="7974159" cy="378561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rPr>
              <a:t>Department of Rockefeller University</a:t>
            </a:r>
          </a:p>
          <a:p>
            <a:pPr marL="342900" indent="-342900"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en-US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  <a:p>
            <a:pPr marL="342900" indent="-342900"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rPr>
              <a:t>Not a typical university press; No current book program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en-US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rPr>
              <a:t>Five highly selective biomedical journals</a:t>
            </a:r>
          </a:p>
          <a:p>
            <a:pPr marL="800100" lvl="1" indent="-342900"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rPr>
              <a:t>3 Hybrid</a:t>
            </a:r>
          </a:p>
          <a:p>
            <a:pPr marL="800100" lvl="1" indent="-342900"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rPr>
              <a:t>2 Gold OA</a:t>
            </a:r>
          </a:p>
          <a:p>
            <a:pPr marL="342900" indent="-342900"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en-US" i="1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  <a:p>
            <a:pPr marL="342900" indent="-342900"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rPr>
              <a:t>Focus on quality metadata</a:t>
            </a:r>
          </a:p>
          <a:p>
            <a:pPr marL="800100" lvl="1" indent="-342900"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rPr>
              <a:t>ORCID, ROR, Funder Ds,, CRediT, OA Switchboard...</a:t>
            </a:r>
          </a:p>
          <a:p>
            <a:pPr marL="800100" lvl="1" indent="-342900"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0A034AA-8034-AC60-5366-B3CA534D39AE}"/>
              </a:ext>
            </a:extLst>
          </p:cNvPr>
          <p:cNvGrpSpPr/>
          <p:nvPr/>
        </p:nvGrpSpPr>
        <p:grpSpPr>
          <a:xfrm>
            <a:off x="8145609" y="0"/>
            <a:ext cx="4051196" cy="6858000"/>
            <a:chOff x="8145609" y="0"/>
            <a:chExt cx="4051196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7E6DF31-6B39-B6A7-FCFC-3FB43C29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45609" y="0"/>
              <a:ext cx="4051196" cy="6858000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492425-DF64-01D2-03BE-8F5558BD846E}"/>
                </a:ext>
              </a:extLst>
            </p:cNvPr>
            <p:cNvGrpSpPr/>
            <p:nvPr/>
          </p:nvGrpSpPr>
          <p:grpSpPr>
            <a:xfrm>
              <a:off x="8703825" y="566202"/>
              <a:ext cx="2923837" cy="5871272"/>
              <a:chOff x="8702757" y="1002198"/>
              <a:chExt cx="2397835" cy="4494915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AA0570FF-F431-F3F4-78E2-1597B37B1E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/>
            </p:blipFill>
            <p:spPr bwMode="auto">
              <a:xfrm>
                <a:off x="8702760" y="1002198"/>
                <a:ext cx="1085786" cy="14051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156B85DF-1588-2AB8-78B1-252CC4CCE9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/>
            </p:blipFill>
            <p:spPr bwMode="auto">
              <a:xfrm>
                <a:off x="10014803" y="1002198"/>
                <a:ext cx="1085789" cy="14051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>
                <a:extLst>
                  <a:ext uri="{FF2B5EF4-FFF2-40B4-BE49-F238E27FC236}">
                    <a16:creationId xmlns:a16="http://schemas.microsoft.com/office/drawing/2014/main" id="{43A62AC4-D3FB-B8CB-A697-409D104A65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/>
            </p:blipFill>
            <p:spPr bwMode="auto">
              <a:xfrm>
                <a:off x="8702758" y="2550006"/>
                <a:ext cx="1085786" cy="14051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60209040-14AE-F27C-140B-60E6F75AB1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/>
            </p:blipFill>
            <p:spPr bwMode="auto">
              <a:xfrm>
                <a:off x="8702757" y="4184531"/>
                <a:ext cx="1014268" cy="1312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Picture 2" descr="RU Press logo">
            <a:extLst>
              <a:ext uri="{FF2B5EF4-FFF2-40B4-BE49-F238E27FC236}">
                <a16:creationId xmlns:a16="http://schemas.microsoft.com/office/drawing/2014/main" id="{2EB366C4-5309-E294-94C6-DF2E7E5BBD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314" y="5906295"/>
            <a:ext cx="1614408" cy="672670"/>
          </a:xfrm>
          <a:prstGeom prst="rect">
            <a:avLst/>
          </a:prstGeom>
        </p:spPr>
      </p:pic>
      <p:pic>
        <p:nvPicPr>
          <p:cNvPr id="4" name="Picture 2" descr="Volume 1, Issue 3 cover art">
            <a:extLst>
              <a:ext uri="{FF2B5EF4-FFF2-40B4-BE49-F238E27FC236}">
                <a16:creationId xmlns:a16="http://schemas.microsoft.com/office/drawing/2014/main" id="{D0F00C06-8FC3-6E90-A19A-9D1C7BBC47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51"/>
          <a:stretch>
            <a:fillRect/>
          </a:stretch>
        </p:blipFill>
        <p:spPr bwMode="auto">
          <a:xfrm>
            <a:off x="10210333" y="2587954"/>
            <a:ext cx="1417329" cy="183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372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2928A-AD66-DD40-1D09-1BB45DDF7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8359FD53-9528-62F9-72E4-A53D08DFB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401" y="0"/>
            <a:ext cx="635866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7C1931-CCEA-B4DE-CD7F-777B4B6949D9}"/>
              </a:ext>
            </a:extLst>
          </p:cNvPr>
          <p:cNvSpPr/>
          <p:nvPr/>
        </p:nvSpPr>
        <p:spPr>
          <a:xfrm>
            <a:off x="4664989" y="5339443"/>
            <a:ext cx="7418707" cy="83275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6D4E73-386E-6200-3D82-AB8C06F98C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246" y="5573484"/>
            <a:ext cx="364673" cy="364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B3C71F-90D1-EAA9-E693-BFAEAFF8B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55" y="1500441"/>
            <a:ext cx="4139491" cy="30364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5BA96B-326C-C516-33A9-28E22864DBB8}"/>
              </a:ext>
            </a:extLst>
          </p:cNvPr>
          <p:cNvSpPr txBox="1"/>
          <p:nvPr/>
        </p:nvSpPr>
        <p:spPr>
          <a:xfrm>
            <a:off x="690755" y="4536933"/>
            <a:ext cx="4139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credit: Chris Shillum/ORCID</a:t>
            </a:r>
          </a:p>
        </p:txBody>
      </p:sp>
    </p:spTree>
    <p:extLst>
      <p:ext uri="{BB962C8B-B14F-4D97-AF65-F5344CB8AC3E}">
        <p14:creationId xmlns:p14="http://schemas.microsoft.com/office/powerpoint/2010/main" val="3761591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B844-2A8D-A441-E65F-2A8A06F62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97;p14">
            <a:extLst>
              <a:ext uri="{FF2B5EF4-FFF2-40B4-BE49-F238E27FC236}">
                <a16:creationId xmlns:a16="http://schemas.microsoft.com/office/drawing/2014/main" id="{04F506E1-F182-847B-F958-26B067CD5E2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7479" y="335391"/>
            <a:ext cx="11007457" cy="46162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469"/>
              </a:buClr>
              <a:buSzPts val="1800"/>
              <a:buFont typeface="Verdana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469"/>
                </a:solidFill>
                <a:effectLst/>
                <a:uLnTx/>
                <a:uFillTx/>
                <a:latin typeface="Verdana"/>
                <a:ea typeface="Verdana"/>
                <a:cs typeface="Verdana"/>
                <a:sym typeface="Verdana"/>
              </a:rPr>
              <a:t>RUP ORCID Integration Journey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" name="Google Shape;119;p14">
            <a:extLst>
              <a:ext uri="{FF2B5EF4-FFF2-40B4-BE49-F238E27FC236}">
                <a16:creationId xmlns:a16="http://schemas.microsoft.com/office/drawing/2014/main" id="{A9118022-6C50-2B91-CCFE-6897F95BC3E2}"/>
              </a:ext>
            </a:extLst>
          </p:cNvPr>
          <p:cNvSpPr txBox="1"/>
          <p:nvPr/>
        </p:nvSpPr>
        <p:spPr>
          <a:xfrm>
            <a:off x="171450" y="1158309"/>
            <a:ext cx="7974159" cy="458583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📅 2014: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ORCID membership </a:t>
            </a:r>
            <a:b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	    Optionally collecting authenticated ORCID IDs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🔄 2015: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Crossref auto-update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✍️ 2016: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Require ORCIDs for corresponding authors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⭐ 2019: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ORCID reviewer credit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👥 2019: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ORCID required for all authors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➡️ 2021: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All ORCIDs sent to PubMed with article metadata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🤝 2024: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Co-reviewer credit</a:t>
            </a:r>
            <a:endParaRPr lang="en-US" sz="20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95F47E8-9CBA-47D4-0170-8B4BB2D25170}"/>
              </a:ext>
            </a:extLst>
          </p:cNvPr>
          <p:cNvGrpSpPr/>
          <p:nvPr/>
        </p:nvGrpSpPr>
        <p:grpSpPr>
          <a:xfrm>
            <a:off x="8145609" y="0"/>
            <a:ext cx="4051196" cy="6858000"/>
            <a:chOff x="8145609" y="0"/>
            <a:chExt cx="4051196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2775027-1DF6-DB7E-74A9-B377E7704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45609" y="0"/>
              <a:ext cx="4051196" cy="6858000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1F1C094-EA31-0B17-64BD-747335CD0060}"/>
                </a:ext>
              </a:extLst>
            </p:cNvPr>
            <p:cNvGrpSpPr/>
            <p:nvPr/>
          </p:nvGrpSpPr>
          <p:grpSpPr>
            <a:xfrm>
              <a:off x="8703825" y="566202"/>
              <a:ext cx="2923837" cy="5871272"/>
              <a:chOff x="8702757" y="1002198"/>
              <a:chExt cx="2397835" cy="4494915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2F6AB107-3084-B1D6-7051-4F06091704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/>
            </p:blipFill>
            <p:spPr bwMode="auto">
              <a:xfrm>
                <a:off x="8702760" y="1002198"/>
                <a:ext cx="1085786" cy="14051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1CEF57B8-19FE-3D81-E0A8-995A59827B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/>
            </p:blipFill>
            <p:spPr bwMode="auto">
              <a:xfrm>
                <a:off x="10014803" y="1002198"/>
                <a:ext cx="1085789" cy="14051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>
                <a:extLst>
                  <a:ext uri="{FF2B5EF4-FFF2-40B4-BE49-F238E27FC236}">
                    <a16:creationId xmlns:a16="http://schemas.microsoft.com/office/drawing/2014/main" id="{57B9EE50-19C3-83F1-A282-D51CDEFE08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/>
            </p:blipFill>
            <p:spPr bwMode="auto">
              <a:xfrm>
                <a:off x="8702758" y="2550006"/>
                <a:ext cx="1085786" cy="14051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973C946F-E04C-5DC9-D1A4-50086A8C74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/>
            </p:blipFill>
            <p:spPr bwMode="auto">
              <a:xfrm>
                <a:off x="8702757" y="4184531"/>
                <a:ext cx="1014268" cy="1312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Picture 2" descr="RU Press logo">
            <a:extLst>
              <a:ext uri="{FF2B5EF4-FFF2-40B4-BE49-F238E27FC236}">
                <a16:creationId xmlns:a16="http://schemas.microsoft.com/office/drawing/2014/main" id="{721DDB64-764E-C7F0-2942-65BCB74999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314" y="5906295"/>
            <a:ext cx="1614408" cy="672670"/>
          </a:xfrm>
          <a:prstGeom prst="rect">
            <a:avLst/>
          </a:prstGeom>
        </p:spPr>
      </p:pic>
      <p:pic>
        <p:nvPicPr>
          <p:cNvPr id="4" name="Picture 2" descr="Volume 1, Issue 3 cover art">
            <a:extLst>
              <a:ext uri="{FF2B5EF4-FFF2-40B4-BE49-F238E27FC236}">
                <a16:creationId xmlns:a16="http://schemas.microsoft.com/office/drawing/2014/main" id="{0A4BE446-10AE-1CD8-C795-DA3207E9BD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51"/>
          <a:stretch>
            <a:fillRect/>
          </a:stretch>
        </p:blipFill>
        <p:spPr bwMode="auto">
          <a:xfrm>
            <a:off x="10210333" y="2587954"/>
            <a:ext cx="1417329" cy="183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268C8527-F0A4-AEE0-27CC-18B9F7AEF4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389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E4C02A3-93B0-F43B-5BF1-873F6E58AB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23150" y="5212936"/>
            <a:ext cx="7136540" cy="106033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2DD1994-2696-031E-4EF5-8666FDD87862}"/>
              </a:ext>
            </a:extLst>
          </p:cNvPr>
          <p:cNvGrpSpPr/>
          <p:nvPr/>
        </p:nvGrpSpPr>
        <p:grpSpPr>
          <a:xfrm>
            <a:off x="2462819" y="2639618"/>
            <a:ext cx="9331393" cy="2176311"/>
            <a:chOff x="1676043" y="1818203"/>
            <a:chExt cx="10069597" cy="234847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F1E994C-08E2-A005-730D-3402FEC8BA65}"/>
                </a:ext>
              </a:extLst>
            </p:cNvPr>
            <p:cNvSpPr txBox="1"/>
            <p:nvPr/>
          </p:nvSpPr>
          <p:spPr>
            <a:xfrm>
              <a:off x="1676043" y="2668082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05A548F3-2D0E-2ED1-084A-288F1B61C0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3655785"/>
                </p:ext>
              </p:extLst>
            </p:nvPr>
          </p:nvGraphicFramePr>
          <p:xfrm>
            <a:off x="2184400" y="2668082"/>
            <a:ext cx="3911600" cy="149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4" imgW="3911040" imgH="1498320" progId="Photoshop.Image.18">
                    <p:embed/>
                  </p:oleObj>
                </mc:Choice>
                <mc:Fallback>
                  <p:oleObj name="Image" r:id="rId4" imgW="3911040" imgH="1498320" progId="Photoshop.Image.18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05A548F3-2D0E-2ED1-084A-288F1B61C04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84400" y="2668082"/>
                          <a:ext cx="3911600" cy="14986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C4950BE-5EE0-ED0D-3B94-89FDFCB74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1762" y="1818203"/>
              <a:ext cx="9713878" cy="805076"/>
            </a:xfrm>
            <a:prstGeom prst="rect">
              <a:avLst/>
            </a:prstGeom>
          </p:spPr>
        </p:pic>
      </p:grp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81200" y="838200"/>
            <a:ext cx="6096000" cy="5334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Authenticated Collection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55" y="791706"/>
            <a:ext cx="467314" cy="46731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09800" y="1606437"/>
            <a:ext cx="7772400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On submission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Throughout the review process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Requirement</a:t>
            </a:r>
            <a:r>
              <a:rPr lang="en-US" dirty="0"/>
              <a:t> enforced prior to acceptance</a:t>
            </a:r>
          </a:p>
        </p:txBody>
      </p:sp>
      <p:pic>
        <p:nvPicPr>
          <p:cNvPr id="14" name="Picture 13" descr="RU Press logo">
            <a:extLst>
              <a:ext uri="{FF2B5EF4-FFF2-40B4-BE49-F238E27FC236}">
                <a16:creationId xmlns:a16="http://schemas.microsoft.com/office/drawing/2014/main" id="{C3050794-A010-762A-78FC-A903DD6E07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314" y="5906295"/>
            <a:ext cx="1614408" cy="67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372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web page">
            <a:extLst>
              <a:ext uri="{FF2B5EF4-FFF2-40B4-BE49-F238E27FC236}">
                <a16:creationId xmlns:a16="http://schemas.microsoft.com/office/drawing/2014/main" id="{AF6A8A8F-DAAA-FEB9-C434-3B8E55D3B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018" y="561963"/>
            <a:ext cx="6789964" cy="541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160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ell biology test&#10;&#10;AI-generated content may be incorrect.">
            <a:extLst>
              <a:ext uri="{FF2B5EF4-FFF2-40B4-BE49-F238E27FC236}">
                <a16:creationId xmlns:a16="http://schemas.microsoft.com/office/drawing/2014/main" id="{A1115488-7B6E-273D-F555-9F76F1AD1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606" y="3719951"/>
            <a:ext cx="7454067" cy="2914679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A899D7-EA56-DDB0-F3A1-C5925AB3A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0457" y="126823"/>
            <a:ext cx="2089735" cy="870723"/>
          </a:xfrm>
          <a:prstGeom prst="rect">
            <a:avLst/>
          </a:prstGeom>
        </p:spPr>
      </p:pic>
      <p:sp>
        <p:nvSpPr>
          <p:cNvPr id="6" name="Google Shape;97;p14">
            <a:extLst>
              <a:ext uri="{FF2B5EF4-FFF2-40B4-BE49-F238E27FC236}">
                <a16:creationId xmlns:a16="http://schemas.microsoft.com/office/drawing/2014/main" id="{661DF7AB-4B13-9D61-F866-D5DF6B8F7D3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7479" y="335391"/>
            <a:ext cx="11007457" cy="58473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469"/>
              </a:buClr>
              <a:buSzPts val="1800"/>
              <a:buFont typeface="Verdana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3469"/>
                </a:solidFill>
                <a:effectLst/>
                <a:uLnTx/>
                <a:uFillTx/>
                <a:latin typeface="Verdana"/>
                <a:ea typeface="Verdana"/>
                <a:cs typeface="+mj-cs"/>
                <a:sym typeface="Verdana"/>
              </a:rPr>
              <a:t>ORCID record updates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Graphic 2" descr="Scientist female with solid fill">
            <a:extLst>
              <a:ext uri="{FF2B5EF4-FFF2-40B4-BE49-F238E27FC236}">
                <a16:creationId xmlns:a16="http://schemas.microsoft.com/office/drawing/2014/main" id="{B8617C8E-A613-E421-752F-D802955997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479" y="3429000"/>
            <a:ext cx="914400" cy="914400"/>
          </a:xfrm>
          <a:prstGeom prst="rect">
            <a:avLst/>
          </a:prstGeom>
        </p:spPr>
      </p:pic>
      <p:cxnSp>
        <p:nvCxnSpPr>
          <p:cNvPr id="19" name="Straight Arrow Connector 18" descr="Arrow pointing from researcher to works list in ORCID record">
            <a:extLst>
              <a:ext uri="{FF2B5EF4-FFF2-40B4-BE49-F238E27FC236}">
                <a16:creationId xmlns:a16="http://schemas.microsoft.com/office/drawing/2014/main" id="{BE554D00-5043-B7D9-8B1E-81366C964322}"/>
              </a:ext>
            </a:extLst>
          </p:cNvPr>
          <p:cNvCxnSpPr>
            <a:cxnSpLocks/>
          </p:cNvCxnSpPr>
          <p:nvPr/>
        </p:nvCxnSpPr>
        <p:spPr>
          <a:xfrm flipV="1">
            <a:off x="1142327" y="1299411"/>
            <a:ext cx="1204017" cy="2742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 descr="Arrow pointing from researcher to peer reviews listed in ORCID record">
            <a:extLst>
              <a:ext uri="{FF2B5EF4-FFF2-40B4-BE49-F238E27FC236}">
                <a16:creationId xmlns:a16="http://schemas.microsoft.com/office/drawing/2014/main" id="{6ADEEF71-2FA4-6962-C7EC-136934B2C27E}"/>
              </a:ext>
            </a:extLst>
          </p:cNvPr>
          <p:cNvCxnSpPr>
            <a:cxnSpLocks/>
          </p:cNvCxnSpPr>
          <p:nvPr/>
        </p:nvCxnSpPr>
        <p:spPr>
          <a:xfrm>
            <a:off x="1142327" y="4025084"/>
            <a:ext cx="23137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529787B-EA17-A6F1-A347-295309D19385}"/>
              </a:ext>
            </a:extLst>
          </p:cNvPr>
          <p:cNvCxnSpPr/>
          <p:nvPr/>
        </p:nvCxnSpPr>
        <p:spPr>
          <a:xfrm>
            <a:off x="3031799" y="6371466"/>
            <a:ext cx="848646" cy="0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332846E-1598-E773-65FD-476F66611E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4470" y="1088217"/>
            <a:ext cx="6952639" cy="2538628"/>
          </a:xfrm>
          <a:prstGeom prst="rect">
            <a:avLst/>
          </a:prstGeom>
          <a:ln>
            <a:solidFill>
              <a:schemeClr val="accent3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6D76BF1-727C-487C-7D43-0AD65EA8D719}"/>
              </a:ext>
            </a:extLst>
          </p:cNvPr>
          <p:cNvCxnSpPr/>
          <p:nvPr/>
        </p:nvCxnSpPr>
        <p:spPr>
          <a:xfrm>
            <a:off x="1587479" y="3408702"/>
            <a:ext cx="848646" cy="0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220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C46ED-2226-C8FA-CCE1-AD18D2FCB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97;p14">
            <a:extLst>
              <a:ext uri="{FF2B5EF4-FFF2-40B4-BE49-F238E27FC236}">
                <a16:creationId xmlns:a16="http://schemas.microsoft.com/office/drawing/2014/main" id="{F6002E3A-AC8D-DFA3-EB5D-CAA416590B7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7479" y="335391"/>
            <a:ext cx="11007457" cy="46162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469"/>
              </a:buClr>
              <a:buSzPts val="1800"/>
              <a:buFont typeface="Verdana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469"/>
                </a:solidFill>
                <a:effectLst/>
                <a:uLnTx/>
                <a:uFillTx/>
                <a:latin typeface="Verdana"/>
                <a:ea typeface="Verdana"/>
                <a:cs typeface="Verdana"/>
                <a:sym typeface="Verdana"/>
              </a:rPr>
              <a:t>Reviewers with ORCID credit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RU Press logo">
            <a:extLst>
              <a:ext uri="{FF2B5EF4-FFF2-40B4-BE49-F238E27FC236}">
                <a16:creationId xmlns:a16="http://schemas.microsoft.com/office/drawing/2014/main" id="{F4334AF5-B5EC-D3D6-78DC-E2376A3DE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14" y="5906295"/>
            <a:ext cx="1614408" cy="6726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83A9B7-0C82-7F49-A348-5864A62E28BC}"/>
              </a:ext>
            </a:extLst>
          </p:cNvPr>
          <p:cNvSpPr txBox="1"/>
          <p:nvPr/>
        </p:nvSpPr>
        <p:spPr>
          <a:xfrm>
            <a:off x="2540593" y="5780965"/>
            <a:ext cx="74677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Blue journal reviewers: &gt;40% PIs with 16+ years of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LSA (red): Relies in many early-career and globally diverse reviewers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Co-reviewers are also included in these numbers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8E5E5A-8233-C540-EBE4-BCD30E7C7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339" y="980373"/>
            <a:ext cx="7467735" cy="4617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5567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2EE46-147B-FAC2-2B9B-ECB16B1A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97;p14">
            <a:extLst>
              <a:ext uri="{FF2B5EF4-FFF2-40B4-BE49-F238E27FC236}">
                <a16:creationId xmlns:a16="http://schemas.microsoft.com/office/drawing/2014/main" id="{68D09950-23E9-375D-1DA9-4F6285FD8F1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7479" y="335391"/>
            <a:ext cx="11007457" cy="46162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469"/>
              </a:buClr>
              <a:buSzPts val="1800"/>
              <a:buFont typeface="Verdana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469"/>
                </a:solidFill>
                <a:effectLst/>
                <a:uLnTx/>
                <a:uFillTx/>
                <a:latin typeface="Verdana"/>
                <a:ea typeface="Verdana"/>
                <a:cs typeface="Verdana"/>
                <a:sym typeface="Verdana"/>
              </a:rPr>
              <a:t>Co-reviewers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RU Press logo">
            <a:extLst>
              <a:ext uri="{FF2B5EF4-FFF2-40B4-BE49-F238E27FC236}">
                <a16:creationId xmlns:a16="http://schemas.microsoft.com/office/drawing/2014/main" id="{423678D7-D89C-AC1B-6EB6-B177DF579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14" y="5906295"/>
            <a:ext cx="1614408" cy="6726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22EAA9-EA02-D305-0E67-21C46FBB128A}"/>
              </a:ext>
            </a:extLst>
          </p:cNvPr>
          <p:cNvSpPr txBox="1"/>
          <p:nvPr/>
        </p:nvSpPr>
        <p:spPr>
          <a:xfrm>
            <a:off x="801239" y="2982323"/>
            <a:ext cx="10553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Upon returning their review, reviewers are asked if any colleagues aided with the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it doesn’t already exist, a record is created for the co-reviewer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are offered the same reviewer credit opportunity as the main reviewers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info: https://rupress.org/pages/co-reviewer-recognition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C10CFB-9305-3753-ABAF-5B15F8611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39" y="1078388"/>
            <a:ext cx="10589521" cy="148833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17670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2946D0A-1571-E06A-CC47-8DDC18CFBD7C}"/>
              </a:ext>
            </a:extLst>
          </p:cNvPr>
          <p:cNvSpPr txBox="1"/>
          <p:nvPr/>
        </p:nvSpPr>
        <p:spPr>
          <a:xfrm>
            <a:off x="1725393" y="869937"/>
            <a:ext cx="977434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summary</a:t>
            </a:r>
            <a:br>
              <a:rPr lang="en-US" sz="24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0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Importance of Verified Reviewer Credit via ORCID Members</a:t>
            </a:r>
          </a:p>
          <a:p>
            <a:endParaRPr lang="en-US" sz="2000" b="1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Researchers get recognition for their peer-review contributions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Displays verified engagement within the academic community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Builds trust and credibility</a:t>
            </a:r>
            <a:endParaRPr lang="en-US" sz="2000" b="1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dirty="0"/>
          </a:p>
          <a:p>
            <a:r>
              <a:rPr lang="en-US" dirty="0"/>
              <a:t>From a recent ORCID LinkedIn post:</a:t>
            </a:r>
          </a:p>
          <a:p>
            <a:endParaRPr lang="en-US" dirty="0"/>
          </a:p>
          <a:p>
            <a:endParaRPr 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FBADBA-85FB-FE51-1FBE-8E71DF8DE0CD}"/>
              </a:ext>
            </a:extLst>
          </p:cNvPr>
          <p:cNvSpPr txBox="1"/>
          <p:nvPr/>
        </p:nvSpPr>
        <p:spPr>
          <a:xfrm>
            <a:off x="2231756" y="3595605"/>
            <a:ext cx="898901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🆔 </a:t>
            </a:r>
            <a:r>
              <a:rPr lang="en-US" sz="2000" b="1" i="1" dirty="0"/>
              <a:t>Assertions made by trustworthy member organizations are the most powerful Trust Markers you will find in an ORCID record. Viewing a researcher's full Record Summary can better surface the Trust Markers to help you make decisions about the trustworthiness of the record.</a:t>
            </a:r>
          </a:p>
          <a:p>
            <a:r>
              <a:rPr lang="en-US" sz="1200" dirty="0"/>
              <a:t>https://www.linkedin.com/posts/orcid_university-email-addresses-no-longer-effective-activity-7376320027299356672-Dt1T/</a:t>
            </a:r>
          </a:p>
        </p:txBody>
      </p:sp>
    </p:spTree>
    <p:extLst>
      <p:ext uri="{BB962C8B-B14F-4D97-AF65-F5344CB8AC3E}">
        <p14:creationId xmlns:p14="http://schemas.microsoft.com/office/powerpoint/2010/main" val="4222313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B045-0CA7-49ED-46E4-FB9337012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324A17-7803-20F3-5600-806BFFADF204}"/>
              </a:ext>
            </a:extLst>
          </p:cNvPr>
          <p:cNvSpPr txBox="1"/>
          <p:nvPr/>
        </p:nvSpPr>
        <p:spPr>
          <a:xfrm>
            <a:off x="3777737" y="2859613"/>
            <a:ext cx="463652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Questions?</a:t>
            </a: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odonner@rockefeller.edu</a:t>
            </a:r>
          </a:p>
        </p:txBody>
      </p:sp>
    </p:spTree>
    <p:extLst>
      <p:ext uri="{BB962C8B-B14F-4D97-AF65-F5344CB8AC3E}">
        <p14:creationId xmlns:p14="http://schemas.microsoft.com/office/powerpoint/2010/main" val="1585533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Office PowerPoint</Application>
  <PresentationFormat>Widescreen</PresentationFormat>
  <Paragraphs>76</Paragraphs>
  <Slides>11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Verdana</vt:lpstr>
      <vt:lpstr>Office Theme</vt:lpstr>
      <vt:lpstr>Image</vt:lpstr>
      <vt:lpstr>    Rockefeller University Press and ORCID </vt:lpstr>
      <vt:lpstr>Rockefeller University Press</vt:lpstr>
      <vt:lpstr>PowerPoint Presentation</vt:lpstr>
      <vt:lpstr>RUP ORCID Integration Journey</vt:lpstr>
      <vt:lpstr>PowerPoint Presentation</vt:lpstr>
      <vt:lpstr>PowerPoint Presentation</vt:lpstr>
      <vt:lpstr>ORCID record updates</vt:lpstr>
      <vt:lpstr>Reviewers with ORCID credit</vt:lpstr>
      <vt:lpstr>Co-reviewers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2025-09-30T13:52:09Z</dcterms:created>
  <dcterms:modified xsi:type="dcterms:W3CDTF">2025-09-30T13:52:50Z</dcterms:modified>
</cp:coreProperties>
</file>